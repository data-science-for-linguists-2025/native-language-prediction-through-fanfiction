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8" r:id="rId5"/>
    <p:sldId id="270" r:id="rId6"/>
    <p:sldId id="267" r:id="rId7"/>
    <p:sldId id="269" r:id="rId8"/>
    <p:sldId id="271" r:id="rId9"/>
    <p:sldId id="265" r:id="rId10"/>
    <p:sldId id="263" r:id="rId11"/>
    <p:sldId id="264" r:id="rId12"/>
    <p:sldId id="259" r:id="rId13"/>
    <p:sldId id="262" r:id="rId14"/>
    <p:sldId id="272" r:id="rId15"/>
    <p:sldId id="260" r:id="rId16"/>
    <p:sldId id="26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>
        <p:scale>
          <a:sx n="87" d="100"/>
          <a:sy n="87" d="100"/>
        </p:scale>
        <p:origin x="57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D2B96-2775-4929-A549-123A2AB6F00D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CAFFB-23F9-426A-8F2F-4DE7A1B55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2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Polish, German, Spanish, Korean, Portuguese, Swedish, French, Finnish, Japanese, Russian, Italian, Chinese, Czech, Malay, Greek, Turkish, </a:t>
            </a:r>
            <a:r>
              <a:rPr lang="en-US" dirty="0" err="1"/>
              <a:t>Slavak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CAFFB-23F9-426A-8F2F-4DE7A1B55B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6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F63A-791C-A852-4866-6A90BA24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4DC48-0029-1E51-1824-C51818ACD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25900-9874-DA28-7DF5-FD357D5B9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Polish, German, Spanish, Korean, Portuguese, Swedish, French, Finnish, Japanese, Russian, Italian, Chinese, Czech, Malay, Greek, Turkish, </a:t>
            </a:r>
            <a:r>
              <a:rPr lang="en-US" dirty="0" err="1"/>
              <a:t>Slavak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8B5BD-1CDC-0762-E963-0F03D0156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CAFFB-23F9-426A-8F2F-4DE7A1B55B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49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7090-35D6-5B5A-14FA-DABC0E304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51982-BCE9-4167-05E2-F60EF7DEE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7F30-F435-FC43-0395-0340EB30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B1912-5CFE-AC86-51BC-9258651A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1834-57D5-C9B3-5F7C-EBD4DDF4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2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92E9-430E-4E5B-6514-CECC3237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A21E-0C61-EE22-4095-521A7C273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7159E-4D3E-635F-15A2-9B163FD7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15C6D-1986-5439-583F-26F5E801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1C6EC-ED4B-6753-303B-4EFA8B42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4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1F73-C2AC-B9BB-8EC7-C4D327EA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98D3D-D5BB-3C2A-AD5C-762A6654A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9DEAC-ED92-DE54-8E1F-ECD6D8D2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FD6B-190A-4C18-682D-410C347AC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CBC41-BA26-B1BC-A4A4-C3DF034B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4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0CD1-3CAD-DAF7-316E-F54FBA44B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10FBA-83E5-C54C-D7D5-15D297E88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8ADB2-D07D-F775-D03B-0CF7F7B47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02A12-6CA1-B33D-DC7C-871C8BAF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DE604-A54B-8C19-1FFB-EA9CC1424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9CE23-8151-B4BE-E6EA-A3A69082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0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DB46-BFD5-209A-4B4F-481AA05D8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9DD0D-151C-C863-0027-68CCB2046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1CB13-7211-3C5A-F4C0-202A7DEBD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FED40-E9CE-F610-243F-D8B0E5DA1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4FF7E-B7DF-625C-8C96-41D90026F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9FDEA1-5085-BBA3-F098-3DA19630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C9FB2-CCF7-BA7C-5799-2615646F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155AA-0F4F-9BED-6A22-3E61D4B7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2140-3065-9A40-F0DA-C696FAAF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78CDC5-287F-DE9C-3505-9F421EDA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3DB02-5A59-C077-21BC-F616CC93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1CC7C-B379-0E75-1788-A5FA6DA3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63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E0B29-8CC6-559B-3A22-2D9C5070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BEB36-7C83-C153-91C0-8541576F1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348AC-55D9-EE48-C19F-15C0C722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193E0-3B9E-9A15-9E61-AD15D589D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0DA15-5CC3-B836-B589-CE7D31C9D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C7A36-75B5-52D6-758E-9242CFB62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A91D3-66C1-0BB6-E8F9-01EFD3FE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DD6CB-E9AF-206A-5941-C38BC4BDF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7F754-49EB-6CB7-8776-496CF830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C36B-C0C5-D90F-C2FD-FE4AEAC1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110ED4-AAA0-CE3C-0590-E53D2F07B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E725C-0CB5-4CDE-AAE0-68477A0F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55DB0-ACDC-FA54-3EC0-505ED0ED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6162E-9984-6E9F-9966-260AC2CC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4473B-EDCB-2AB1-49F2-FF0D4E499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94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9AB2-D45F-187F-20A4-097A92B0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1DC52-4BF3-8210-83DA-B33F973DA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6FE87-FFC2-5092-07E4-55F28364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8E161-11E5-E778-7AF4-AEE2CD4A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21F40-6891-E46D-EC5F-5E87B01B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6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476FB-903B-4436-ECBE-320443B77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4B11A-076B-23CC-36F7-6ABE252D8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FB591-540E-EC86-B79B-2B156D80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B482B-72A0-3579-8F86-A0980FD43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9FED6-270C-2B77-DD3C-3DD0B603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57EEE0-D77F-1E47-FEEF-61AB9540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8514C-79AB-D14A-812A-DB758AEB0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A584-FCBB-FE6E-5B41-A56297016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CDAB7-40FF-42A4-A328-43CCFB3F2898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B73BB-0B76-E7B2-95C1-78EAF8CB4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75268-5148-4AD1-4837-429994137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657E9-6FF1-4BD5-B915-E85A518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3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791B33F-CE76-4EF1-8227-54ED041CD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26D9D-F539-890C-C9F4-139BBAF1E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557189"/>
            <a:ext cx="8629358" cy="2956233"/>
          </a:xfrm>
        </p:spPr>
        <p:txBody>
          <a:bodyPr anchor="b">
            <a:normAutofit/>
          </a:bodyPr>
          <a:lstStyle/>
          <a:p>
            <a:pPr algn="l"/>
            <a:r>
              <a:rPr lang="en-US" sz="5200" dirty="0">
                <a:solidFill>
                  <a:srgbClr val="990000"/>
                </a:solidFill>
                <a:latin typeface="Lucida Bright" panose="02040602050505020304" pitchFamily="18" charset="0"/>
              </a:rPr>
              <a:t>Native Language Prediction Through Fanfiction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92680-E0F1-DFA7-C792-784134692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0749" y="3728614"/>
            <a:ext cx="8629358" cy="182812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990000"/>
                </a:solidFill>
              </a:rPr>
              <a:t>Jenna Higgins</a:t>
            </a:r>
          </a:p>
        </p:txBody>
      </p:sp>
      <p:pic>
        <p:nvPicPr>
          <p:cNvPr id="1026" name="Picture 2" descr="Archive of Our Own">
            <a:extLst>
              <a:ext uri="{FF2B5EF4-FFF2-40B4-BE49-F238E27FC236}">
                <a16:creationId xmlns:a16="http://schemas.microsoft.com/office/drawing/2014/main" id="{9DBE1DAB-99FD-8C26-0C5F-9068CE813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2650" y="2570968"/>
            <a:ext cx="1136650" cy="78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37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F2F9-A0C6-638C-382C-D6AB13F3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Archive of 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FF9A-0F30-5446-CF22-BD2884D4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0020" cy="4351338"/>
          </a:xfrm>
        </p:spPr>
        <p:txBody>
          <a:bodyPr/>
          <a:lstStyle/>
          <a:p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website that hosts fanfiction and other </a:t>
            </a:r>
            <a:r>
              <a:rPr lang="en-US" dirty="0" err="1">
                <a:solidFill>
                  <a:srgbClr val="990000"/>
                </a:solidFill>
                <a:latin typeface="Lucida Sans" panose="020B0602030504020204" pitchFamily="34" charset="0"/>
              </a:rPr>
              <a:t>fanworks</a:t>
            </a:r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 (</a:t>
            </a:r>
            <a:r>
              <a:rPr lang="en-US" dirty="0" err="1">
                <a:solidFill>
                  <a:srgbClr val="990000"/>
                </a:solidFill>
                <a:latin typeface="Lucida Sans" panose="020B0602030504020204" pitchFamily="34" charset="0"/>
              </a:rPr>
              <a:t>ie</a:t>
            </a:r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; podfics, fanart)</a:t>
            </a:r>
          </a:p>
          <a:p>
            <a:pPr lvl="1"/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fic</a:t>
            </a:r>
          </a:p>
          <a:p>
            <a:pPr lvl="1"/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beta</a:t>
            </a:r>
          </a:p>
          <a:p>
            <a:pPr lvl="1"/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kudos</a:t>
            </a:r>
          </a:p>
          <a:p>
            <a:pPr lvl="1"/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  <a:sym typeface="Wingdings" panose="05000000000000000000" pitchFamily="2" charset="2"/>
              </a:rPr>
              <a:t>hits</a:t>
            </a:r>
          </a:p>
          <a:p>
            <a:pPr lvl="1"/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  <a:sym typeface="Wingdings" panose="05000000000000000000" pitchFamily="2" charset="2"/>
              </a:rPr>
              <a:t>tags</a:t>
            </a:r>
          </a:p>
          <a:p>
            <a:pPr lvl="1"/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  <a:sym typeface="Wingdings" panose="05000000000000000000" pitchFamily="2" charset="2"/>
              </a:rPr>
              <a:t>bookmarks</a:t>
            </a:r>
          </a:p>
          <a:p>
            <a:pPr lvl="1"/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  <a:sym typeface="Wingdings" panose="05000000000000000000" pitchFamily="2" charset="2"/>
              </a:rPr>
              <a:t>comments</a:t>
            </a:r>
            <a:endParaRPr lang="en-US" dirty="0">
              <a:solidFill>
                <a:srgbClr val="990000"/>
              </a:solidFill>
              <a:latin typeface="Lucida Sans" panose="020B0602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37CDF-84DC-65F4-15DF-873FD2ADE10F}"/>
              </a:ext>
            </a:extLst>
          </p:cNvPr>
          <p:cNvSpPr txBox="1"/>
          <p:nvPr/>
        </p:nvSpPr>
        <p:spPr>
          <a:xfrm>
            <a:off x="8202287" y="6064929"/>
            <a:ext cx="3482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90000"/>
                </a:solidFill>
                <a:latin typeface="Lucida Sans" panose="020B0602030504020204" pitchFamily="34" charset="0"/>
              </a:rPr>
              <a:t>example fic – written by Polish </a:t>
            </a:r>
            <a:r>
              <a:rPr lang="en-US" sz="1400" dirty="0" err="1">
                <a:solidFill>
                  <a:srgbClr val="990000"/>
                </a:solidFill>
                <a:latin typeface="Lucida Sans" panose="020B0602030504020204" pitchFamily="34" charset="0"/>
              </a:rPr>
              <a:t>L1</a:t>
            </a:r>
            <a:endParaRPr lang="en-US" sz="1400" dirty="0">
              <a:solidFill>
                <a:srgbClr val="990000"/>
              </a:solidFill>
              <a:latin typeface="Lucida Sans" panose="020B06020305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06CBF4-E504-29B5-AB36-60ACE051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938" y="1301942"/>
            <a:ext cx="3801670" cy="42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8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5B5C-A19D-91B9-16D8-CB609B7A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The issue with </a:t>
            </a:r>
            <a:r>
              <a:rPr lang="en-US" dirty="0" err="1">
                <a:solidFill>
                  <a:srgbClr val="990000"/>
                </a:solidFill>
                <a:latin typeface="Lucida Bright" panose="02040602050505020304" pitchFamily="18" charset="0"/>
              </a:rPr>
              <a:t>webscraping</a:t>
            </a:r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E55A2-4C1C-AE54-54F5-D2BA24DEB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990000"/>
                </a:solidFill>
              </a:rPr>
              <a:t>Most people who write fanfiction either a) don’t mention whether they are writing in their native language or not or b) don’t specify what their native language is</a:t>
            </a:r>
          </a:p>
          <a:p>
            <a:r>
              <a:rPr lang="en-US" dirty="0">
                <a:solidFill>
                  <a:srgbClr val="990000"/>
                </a:solidFill>
              </a:rPr>
              <a:t>It’s hard to find out their native language without hunting down all of their social media</a:t>
            </a:r>
          </a:p>
          <a:p>
            <a:pPr lvl="1"/>
            <a:r>
              <a:rPr lang="en-US" dirty="0">
                <a:solidFill>
                  <a:srgbClr val="990000"/>
                </a:solidFill>
              </a:rPr>
              <a:t>This isn’t usually difficult (see next slide), but </a:t>
            </a:r>
            <a:r>
              <a:rPr lang="en-US" dirty="0" err="1">
                <a:solidFill>
                  <a:srgbClr val="990000"/>
                </a:solidFill>
              </a:rPr>
              <a:t>webscraping</a:t>
            </a:r>
            <a:r>
              <a:rPr lang="en-US" dirty="0">
                <a:solidFill>
                  <a:srgbClr val="990000"/>
                </a:solidFill>
              </a:rPr>
              <a:t> adds a whole other layer of complexity</a:t>
            </a:r>
          </a:p>
        </p:txBody>
      </p:sp>
    </p:spTree>
    <p:extLst>
      <p:ext uri="{BB962C8B-B14F-4D97-AF65-F5344CB8AC3E}">
        <p14:creationId xmlns:p14="http://schemas.microsoft.com/office/powerpoint/2010/main" val="383163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6DDE-F055-D354-4131-6B710C31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3808858-99EE-063C-9E4A-3B1B4E8AB0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40"/>
          <a:stretch/>
        </p:blipFill>
        <p:spPr>
          <a:xfrm>
            <a:off x="-1946" y="0"/>
            <a:ext cx="12192000" cy="594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8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1F4C-ACED-9FB3-4884-2B12DC06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7A84-BD42-8617-5E57-88E129A55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The issue with </a:t>
            </a:r>
            <a:r>
              <a:rPr lang="en-US" dirty="0" err="1">
                <a:solidFill>
                  <a:srgbClr val="990000"/>
                </a:solidFill>
                <a:latin typeface="Lucida Bright" panose="02040602050505020304" pitchFamily="18" charset="0"/>
              </a:rPr>
              <a:t>webscraping</a:t>
            </a:r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1EE6C-75B4-304F-F652-41F90B38A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990000"/>
                </a:solidFill>
              </a:rPr>
              <a:t>Most people who write fanfiction either a) don’t mention whether they are writing in their native language or not or b) don’t specify what their native language is</a:t>
            </a:r>
          </a:p>
          <a:p>
            <a:r>
              <a:rPr lang="en-US" dirty="0">
                <a:solidFill>
                  <a:srgbClr val="990000"/>
                </a:solidFill>
              </a:rPr>
              <a:t>It’s hard to find out their native language without hunting down all of their social media</a:t>
            </a:r>
          </a:p>
          <a:p>
            <a:r>
              <a:rPr lang="en-US" dirty="0">
                <a:solidFill>
                  <a:srgbClr val="990000"/>
                </a:solidFill>
              </a:rPr>
              <a:t>Archive of Our Own has profiles/bios available, but...</a:t>
            </a:r>
          </a:p>
        </p:txBody>
      </p:sp>
    </p:spTree>
    <p:extLst>
      <p:ext uri="{BB962C8B-B14F-4D97-AF65-F5344CB8AC3E}">
        <p14:creationId xmlns:p14="http://schemas.microsoft.com/office/powerpoint/2010/main" val="318738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373A4-D64C-D454-C809-4F5A0DE5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4A581B9-B739-CAA1-A395-314C14B1C9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46" b="7746"/>
          <a:stretch/>
        </p:blipFill>
        <p:spPr>
          <a:xfrm>
            <a:off x="-973" y="0"/>
            <a:ext cx="12192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54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26ED-7693-6636-79B7-08FEC7298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4631D40-FFD1-944A-0CEA-5527D7661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0483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9E35EE-5F2F-8419-8D63-E1119E11B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46" b="7746"/>
          <a:stretch/>
        </p:blipFill>
        <p:spPr>
          <a:xfrm>
            <a:off x="-973" y="0"/>
            <a:ext cx="12192000" cy="4114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60856A-3868-844F-5315-7F3B90A36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" y="0"/>
            <a:ext cx="12192000" cy="480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7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988DB-52F7-6AE7-C131-47926E72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0558-BC78-BEE5-3098-A811A24A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The issue with </a:t>
            </a:r>
            <a:r>
              <a:rPr lang="en-US" dirty="0" err="1">
                <a:solidFill>
                  <a:srgbClr val="990000"/>
                </a:solidFill>
                <a:latin typeface="Lucida Bright" panose="02040602050505020304" pitchFamily="18" charset="0"/>
              </a:rPr>
              <a:t>webscraping</a:t>
            </a:r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8A7D1-52A1-2FD4-46C8-4A1B6094B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990000"/>
                </a:solidFill>
              </a:rPr>
              <a:t>Most people who write fanfiction either a) don’t mention whether they are writing in their native language or not or b) don’t specify what their native language is</a:t>
            </a:r>
          </a:p>
          <a:p>
            <a:r>
              <a:rPr lang="en-US" dirty="0">
                <a:solidFill>
                  <a:srgbClr val="990000"/>
                </a:solidFill>
              </a:rPr>
              <a:t>It’s hard to find out their native language without hunting down all of their social media</a:t>
            </a:r>
          </a:p>
          <a:p>
            <a:r>
              <a:rPr lang="en-US" dirty="0">
                <a:solidFill>
                  <a:srgbClr val="990000"/>
                </a:solidFill>
              </a:rPr>
              <a:t>Archive of Our Own has profiles/bios available, but they aren’t always filled with useful information</a:t>
            </a:r>
          </a:p>
          <a:p>
            <a:r>
              <a:rPr lang="en-US" dirty="0">
                <a:solidFill>
                  <a:srgbClr val="990000"/>
                </a:solidFill>
              </a:rPr>
              <a:t>People may end up discussing the native language of a CHARACTER and explaining their thought process while writing... usually, this brings me great joy, but I found myself rather irritated when trying to gather data</a:t>
            </a:r>
          </a:p>
        </p:txBody>
      </p:sp>
    </p:spTree>
    <p:extLst>
      <p:ext uri="{BB962C8B-B14F-4D97-AF65-F5344CB8AC3E}">
        <p14:creationId xmlns:p14="http://schemas.microsoft.com/office/powerpoint/2010/main" val="349743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96DA-F2A0-6A8D-6E36-E8231FF17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58C0-E1DF-ABAF-5500-F411E986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Favorite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A3D02-247B-991B-A318-B1599FC50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>
                <a:solidFill>
                  <a:srgbClr val="990000"/>
                </a:solidFill>
              </a:rPr>
              <a:t>“I’m French and so, so sorry if there is any mistake.”</a:t>
            </a:r>
          </a:p>
          <a:p>
            <a:pPr lvl="1"/>
            <a:r>
              <a:rPr lang="en-US" dirty="0">
                <a:solidFill>
                  <a:srgbClr val="990000"/>
                </a:solidFill>
              </a:rPr>
              <a:t>“Still French! Still no Beta! I’m sorry about the mistakes </a:t>
            </a:r>
            <a:r>
              <a:rPr lang="en-US" dirty="0" err="1">
                <a:solidFill>
                  <a:srgbClr val="990000"/>
                </a:solidFill>
              </a:rPr>
              <a:t>T_T</a:t>
            </a:r>
            <a:endParaRPr lang="en-US" dirty="0">
              <a:solidFill>
                <a:srgbClr val="990000"/>
              </a:solidFill>
            </a:endParaRPr>
          </a:p>
          <a:p>
            <a:r>
              <a:rPr lang="en-US" dirty="0">
                <a:solidFill>
                  <a:srgbClr val="990000"/>
                </a:solidFill>
              </a:rPr>
              <a:t>“</a:t>
            </a:r>
            <a:r>
              <a:rPr lang="en-US" dirty="0" err="1">
                <a:solidFill>
                  <a:srgbClr val="990000"/>
                </a:solidFill>
              </a:rPr>
              <a:t>FoUr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FiCs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chillin</a:t>
            </a:r>
            <a:r>
              <a:rPr lang="en-US" dirty="0">
                <a:solidFill>
                  <a:srgbClr val="990000"/>
                </a:solidFill>
              </a:rPr>
              <a:t> in a hot tub </a:t>
            </a:r>
            <a:r>
              <a:rPr lang="en-US" dirty="0" err="1">
                <a:solidFill>
                  <a:srgbClr val="990000"/>
                </a:solidFill>
              </a:rPr>
              <a:t>F0Ur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YeArS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aPart</a:t>
            </a:r>
            <a:r>
              <a:rPr lang="en-US" dirty="0">
                <a:solidFill>
                  <a:srgbClr val="990000"/>
                </a:solidFill>
              </a:rPr>
              <a:t> cause I’m not okay”</a:t>
            </a:r>
          </a:p>
          <a:p>
            <a:r>
              <a:rPr lang="en-US" dirty="0">
                <a:solidFill>
                  <a:srgbClr val="990000"/>
                </a:solidFill>
              </a:rPr>
              <a:t>“Hey, I’m German, please don’t </a:t>
            </a:r>
            <a:r>
              <a:rPr lang="en-US" dirty="0" err="1">
                <a:solidFill>
                  <a:srgbClr val="990000"/>
                </a:solidFill>
              </a:rPr>
              <a:t>judgeEnjoy</a:t>
            </a:r>
            <a:r>
              <a:rPr lang="en-US" dirty="0">
                <a:solidFill>
                  <a:srgbClr val="990000"/>
                </a:solidFill>
              </a:rPr>
              <a:t>, you little gay, depressed bitch”</a:t>
            </a:r>
          </a:p>
          <a:p>
            <a:r>
              <a:rPr lang="en-US" dirty="0">
                <a:solidFill>
                  <a:srgbClr val="990000"/>
                </a:solidFill>
              </a:rPr>
              <a:t>“I refuse to sexualize saunas and I have a right to exoticize my own people.”</a:t>
            </a:r>
          </a:p>
          <a:p>
            <a:r>
              <a:rPr lang="en-US" strike="sngStrike" dirty="0">
                <a:solidFill>
                  <a:srgbClr val="990000"/>
                </a:solidFill>
              </a:rPr>
              <a:t>“I know, it’s a fucking trash. And I have mistakes in this shit. I’m Russian and I do this with a translator.”</a:t>
            </a:r>
          </a:p>
          <a:p>
            <a:r>
              <a:rPr lang="en-US" dirty="0">
                <a:solidFill>
                  <a:srgbClr val="990000"/>
                </a:solidFill>
              </a:rPr>
              <a:t>“I’m German so no good accent for Soap, sorry.”</a:t>
            </a:r>
          </a:p>
          <a:p>
            <a:pPr lvl="1"/>
            <a:r>
              <a:rPr lang="en-US" dirty="0">
                <a:solidFill>
                  <a:srgbClr val="990000"/>
                </a:solidFill>
              </a:rPr>
              <a:t>“Also why is coconutty not a word?”</a:t>
            </a:r>
          </a:p>
          <a:p>
            <a:r>
              <a:rPr lang="en-US" dirty="0">
                <a:solidFill>
                  <a:srgbClr val="990000"/>
                </a:solidFill>
              </a:rPr>
              <a:t>“I’m Czech, I know what happens after all this.”</a:t>
            </a:r>
          </a:p>
          <a:p>
            <a:r>
              <a:rPr lang="en-US" strike="sngStrike" dirty="0">
                <a:solidFill>
                  <a:srgbClr val="990000"/>
                </a:solidFill>
              </a:rPr>
              <a:t>“(This means Topher is speaking Italian because forcing people to Google translate in a context where it’s funnier that they know exactly what he’s saying without looking it up is for squares)”</a:t>
            </a:r>
          </a:p>
          <a:p>
            <a:r>
              <a:rPr lang="en-US" dirty="0">
                <a:solidFill>
                  <a:srgbClr val="990000"/>
                </a:solidFill>
              </a:rPr>
              <a:t>“Not joking, I’ve moved high-school just to avoid another Arabic mandatory Class.”</a:t>
            </a:r>
          </a:p>
          <a:p>
            <a:r>
              <a:rPr lang="en-US" dirty="0">
                <a:solidFill>
                  <a:srgbClr val="990000"/>
                </a:solidFill>
              </a:rPr>
              <a:t>“Please excuse me for mistakes, I’m </a:t>
            </a:r>
            <a:r>
              <a:rPr lang="en-US" dirty="0" err="1">
                <a:solidFill>
                  <a:srgbClr val="990000"/>
                </a:solidFill>
              </a:rPr>
              <a:t>german</a:t>
            </a:r>
            <a:r>
              <a:rPr lang="en-US" dirty="0">
                <a:solidFill>
                  <a:srgbClr val="990000"/>
                </a:solidFill>
              </a:rPr>
              <a:t> and my </a:t>
            </a:r>
            <a:r>
              <a:rPr lang="en-US" dirty="0" err="1">
                <a:solidFill>
                  <a:srgbClr val="990000"/>
                </a:solidFill>
              </a:rPr>
              <a:t>autocorrekter</a:t>
            </a:r>
            <a:r>
              <a:rPr lang="en-US" dirty="0">
                <a:solidFill>
                  <a:srgbClr val="990000"/>
                </a:solidFill>
              </a:rPr>
              <a:t> wants to change the </a:t>
            </a:r>
            <a:r>
              <a:rPr lang="en-US" dirty="0" err="1">
                <a:solidFill>
                  <a:srgbClr val="990000"/>
                </a:solidFill>
              </a:rPr>
              <a:t>english</a:t>
            </a:r>
            <a:r>
              <a:rPr lang="en-US" dirty="0">
                <a:solidFill>
                  <a:srgbClr val="990000"/>
                </a:solidFill>
              </a:rPr>
              <a:t> words into </a:t>
            </a:r>
            <a:r>
              <a:rPr lang="en-US" dirty="0" err="1">
                <a:solidFill>
                  <a:srgbClr val="990000"/>
                </a:solidFill>
              </a:rPr>
              <a:t>german</a:t>
            </a:r>
            <a:r>
              <a:rPr lang="en-US" dirty="0">
                <a:solidFill>
                  <a:srgbClr val="990000"/>
                </a:solidFill>
              </a:rPr>
              <a:t> words. Anyways, have fun.”</a:t>
            </a:r>
          </a:p>
          <a:p>
            <a:r>
              <a:rPr lang="en-US" dirty="0">
                <a:solidFill>
                  <a:srgbClr val="990000"/>
                </a:solidFill>
              </a:rPr>
              <a:t>“What the fuck am </a:t>
            </a:r>
            <a:r>
              <a:rPr lang="en-US" dirty="0" err="1">
                <a:solidFill>
                  <a:srgbClr val="990000"/>
                </a:solidFill>
              </a:rPr>
              <a:t>i</a:t>
            </a:r>
            <a:r>
              <a:rPr lang="en-US" dirty="0">
                <a:solidFill>
                  <a:srgbClr val="990000"/>
                </a:solidFill>
              </a:rPr>
              <a:t> doing awake it’s 3:30 holy shit goodnight guys”</a:t>
            </a:r>
          </a:p>
          <a:p>
            <a:r>
              <a:rPr lang="en-US" dirty="0">
                <a:solidFill>
                  <a:srgbClr val="990000"/>
                </a:solidFill>
              </a:rPr>
              <a:t>“just a warning that a. I’m polish so my English is a no no b. I can’t write fanfics, I just need to fulfill my dreams”</a:t>
            </a:r>
          </a:p>
          <a:p>
            <a:r>
              <a:rPr lang="en-US" dirty="0">
                <a:solidFill>
                  <a:srgbClr val="990000"/>
                </a:solidFill>
              </a:rPr>
              <a:t>“Yes I’m Turkish yes I write about Turkish people in English. We exist.”</a:t>
            </a:r>
          </a:p>
          <a:p>
            <a:r>
              <a:rPr lang="en-US" dirty="0">
                <a:solidFill>
                  <a:srgbClr val="990000"/>
                </a:solidFill>
              </a:rPr>
              <a:t>“Here I am once again! English is still not my native language and I continue to be dyslexic lol.”</a:t>
            </a:r>
          </a:p>
          <a:p>
            <a:r>
              <a:rPr lang="en-US" dirty="0">
                <a:solidFill>
                  <a:srgbClr val="990000"/>
                </a:solidFill>
              </a:rPr>
              <a:t>“Btw, English may sometimes not be </a:t>
            </a:r>
            <a:r>
              <a:rPr lang="en-US" dirty="0" err="1">
                <a:solidFill>
                  <a:srgbClr val="990000"/>
                </a:solidFill>
              </a:rPr>
              <a:t>Englishing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 err="1">
                <a:solidFill>
                  <a:srgbClr val="990000"/>
                </a:solidFill>
              </a:rPr>
              <a:t>cuz</a:t>
            </a:r>
            <a:r>
              <a:rPr lang="en-US" dirty="0">
                <a:solidFill>
                  <a:srgbClr val="990000"/>
                </a:solidFill>
              </a:rPr>
              <a:t> homie I’m Polish, so sorry for that in </a:t>
            </a:r>
            <a:r>
              <a:rPr lang="en-US" dirty="0" err="1">
                <a:solidFill>
                  <a:srgbClr val="990000"/>
                </a:solidFill>
              </a:rPr>
              <a:t>advancexoxo</a:t>
            </a:r>
            <a:r>
              <a:rPr lang="en-US" dirty="0">
                <a:solidFill>
                  <a:srgbClr val="99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708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9F27E5-0B3F-DC65-8263-C5F8FBE8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597" y="0"/>
            <a:ext cx="790840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027E9-2810-8B57-0FD4-9652A05A7806}"/>
              </a:ext>
            </a:extLst>
          </p:cNvPr>
          <p:cNvSpPr txBox="1"/>
          <p:nvPr/>
        </p:nvSpPr>
        <p:spPr>
          <a:xfrm>
            <a:off x="242403" y="6345793"/>
            <a:ext cx="609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0.046875</a:t>
            </a:r>
            <a:endParaRPr lang="en-US" dirty="0">
              <a:solidFill>
                <a:srgbClr val="990000"/>
              </a:solidFill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00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6BBBCA-33CE-B17F-D600-26BE479DA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097" y="142875"/>
            <a:ext cx="6286500" cy="657225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4D39A4-4D8C-42EE-42CF-9BC0830C8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890864"/>
              </p:ext>
            </p:extLst>
          </p:nvPr>
        </p:nvGraphicFramePr>
        <p:xfrm>
          <a:off x="1834276" y="947539"/>
          <a:ext cx="3400254" cy="49629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00127">
                  <a:extLst>
                    <a:ext uri="{9D8B030D-6E8A-4147-A177-3AD203B41FA5}">
                      <a16:colId xmlns:a16="http://schemas.microsoft.com/office/drawing/2014/main" val="1967697950"/>
                    </a:ext>
                  </a:extLst>
                </a:gridCol>
                <a:gridCol w="1700127">
                  <a:extLst>
                    <a:ext uri="{9D8B030D-6E8A-4147-A177-3AD203B41FA5}">
                      <a16:colId xmlns:a16="http://schemas.microsoft.com/office/drawing/2014/main" val="1507873787"/>
                    </a:ext>
                  </a:extLst>
                </a:gridCol>
              </a:tblGrid>
              <a:tr h="713176"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215734"/>
                  </a:ext>
                </a:extLst>
              </a:tr>
              <a:tr h="713176"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“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”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173206"/>
                  </a:ext>
                </a:extLst>
              </a:tr>
              <a:tr h="713176"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‘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’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4828694"/>
                  </a:ext>
                </a:extLst>
              </a:tr>
              <a:tr h="713176"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«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»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3363542"/>
                  </a:ext>
                </a:extLst>
              </a:tr>
              <a:tr h="703406"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„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‚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4585770"/>
                  </a:ext>
                </a:extLst>
              </a:tr>
              <a:tr h="703406"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2974945"/>
                  </a:ext>
                </a:extLst>
              </a:tr>
              <a:tr h="703406"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¡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dirty="0">
                          <a:solidFill>
                            <a:srgbClr val="CD8D8D"/>
                          </a:solidFill>
                          <a:effectLst/>
                          <a:latin typeface="Consolas" panose="020B0609020204030204" pitchFamily="49" charset="0"/>
                        </a:rPr>
                        <a:t>¿</a:t>
                      </a:r>
                      <a:endParaRPr lang="en-US" sz="4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366638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8CDF70C-15CF-2DC8-4E23-7206D935AB23}"/>
              </a:ext>
            </a:extLst>
          </p:cNvPr>
          <p:cNvSpPr txBox="1"/>
          <p:nvPr/>
        </p:nvSpPr>
        <p:spPr>
          <a:xfrm>
            <a:off x="242403" y="6345793"/>
            <a:ext cx="609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0.2992125984251969</a:t>
            </a:r>
            <a:endParaRPr lang="en-US" dirty="0">
              <a:solidFill>
                <a:srgbClr val="990000"/>
              </a:solidFill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646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D142AA-E476-85B9-B3B0-721F3AF8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889" y="623887"/>
            <a:ext cx="6543675" cy="5610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5F9471-69F3-1673-5942-52F1F099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6" y="667690"/>
            <a:ext cx="437356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rgbClr val="990000"/>
                </a:solidFill>
                <a:latin typeface="Lucida Bright" panose="02040602050505020304" pitchFamily="18" charset="0"/>
              </a:rPr>
              <a:t>L1</a:t>
            </a:r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 Distributions (post-drop)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FC721-5B80-C7DE-83D8-D807D4982B87}"/>
              </a:ext>
            </a:extLst>
          </p:cNvPr>
          <p:cNvSpPr txBox="1"/>
          <p:nvPr/>
        </p:nvSpPr>
        <p:spPr>
          <a:xfrm>
            <a:off x="579436" y="2272311"/>
            <a:ext cx="43046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As you can see, very unbalanced...</a:t>
            </a:r>
          </a:p>
          <a:p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... and mostly Indo-European</a:t>
            </a:r>
          </a:p>
          <a:p>
            <a:endParaRPr lang="en-US" dirty="0">
              <a:solidFill>
                <a:srgbClr val="990000"/>
              </a:solidFill>
              <a:latin typeface="Lucida Sans" panose="020B0602030504020204" pitchFamily="34" charset="0"/>
            </a:endParaRPr>
          </a:p>
          <a:p>
            <a:r>
              <a:rPr lang="en-US" dirty="0">
                <a:solidFill>
                  <a:srgbClr val="990000"/>
                </a:solidFill>
                <a:latin typeface="Lucida Sans" panose="020B0602030504020204" pitchFamily="34" charset="0"/>
              </a:rPr>
              <a:t>(The drop removed languages that I had fewer than 4 works for)</a:t>
            </a:r>
          </a:p>
        </p:txBody>
      </p:sp>
    </p:spTree>
    <p:extLst>
      <p:ext uri="{BB962C8B-B14F-4D97-AF65-F5344CB8AC3E}">
        <p14:creationId xmlns:p14="http://schemas.microsoft.com/office/powerpoint/2010/main" val="2935845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CA3ADC-4567-DBDC-9724-4067C1BD1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367" y="0"/>
            <a:ext cx="6559826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C6E49A-4D27-2891-C8B5-F8D7D15256BF}"/>
              </a:ext>
            </a:extLst>
          </p:cNvPr>
          <p:cNvSpPr txBox="1"/>
          <p:nvPr/>
        </p:nvSpPr>
        <p:spPr>
          <a:xfrm>
            <a:off x="249807" y="6344808"/>
            <a:ext cx="609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0.13821138211382114</a:t>
            </a:r>
            <a:endParaRPr lang="en-US" dirty="0">
              <a:solidFill>
                <a:srgbClr val="990000"/>
              </a:solidFill>
              <a:latin typeface="Lucida Sans" panose="020B0602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480351-74CB-5BE1-9155-B36494DF6A37}"/>
              </a:ext>
            </a:extLst>
          </p:cNvPr>
          <p:cNvSpPr txBox="1"/>
          <p:nvPr/>
        </p:nvSpPr>
        <p:spPr>
          <a:xfrm>
            <a:off x="173846" y="143458"/>
            <a:ext cx="511543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{'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verbform:part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prontype:ind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gender:fem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polarity:neg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mood:ind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degree:cmp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prontype:art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degree:pos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typo:yes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gender:neut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number:sing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case:acc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number:plur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prontype:int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polarity:pos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prontype:dem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extpos:adv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extpos:sconj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extpos:cconj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gender:masc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person:3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numtype:frac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numform:word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extpos:adp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style:vrnc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voice:pass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definite:ind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case:nom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style:coll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prontype:prs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mood:imp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numtype:mult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abbr:yes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numtype:card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definite:def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verbform:ger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prontype:neg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numtype:ord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case:gen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foreign:yes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person:1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verbform:inf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poss:yes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numform:digit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tense:pres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reflex:yes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extpos:pron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degree:sup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prontype:tot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person:2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verbform:fin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', '</a:t>
            </a:r>
            <a:r>
              <a:rPr lang="en-US" b="0" i="0" dirty="0" err="1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tense:past</a:t>
            </a:r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'}</a:t>
            </a:r>
            <a:endParaRPr lang="en-US" dirty="0">
              <a:solidFill>
                <a:srgbClr val="990000"/>
              </a:solidFill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95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29FF-8F8C-4F15-3529-084E888E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6A5AE86-40AC-C1DC-F807-924315650008}"/>
              </a:ext>
            </a:extLst>
          </p:cNvPr>
          <p:cNvSpPr txBox="1"/>
          <p:nvPr/>
        </p:nvSpPr>
        <p:spPr>
          <a:xfrm>
            <a:off x="249807" y="6344808"/>
            <a:ext cx="609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990000"/>
                </a:solidFill>
                <a:effectLst/>
                <a:latin typeface="Lucida Sans" panose="020B0602030504020204" pitchFamily="34" charset="0"/>
              </a:rPr>
              <a:t>0.2926829268292683</a:t>
            </a:r>
            <a:endParaRPr lang="en-US" dirty="0">
              <a:solidFill>
                <a:srgbClr val="990000"/>
              </a:solidFill>
              <a:latin typeface="Lucida Sans" panose="020B0602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1AC62-AC0D-A6DD-5ADB-9ED36E4FA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211" y="143458"/>
            <a:ext cx="628650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32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4F9677-76C2-33C1-75C2-C1A99489A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631695" cy="1395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607E27-69B6-4AC3-EC46-0C68E7461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262" y="-2805"/>
            <a:ext cx="2631695" cy="13955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9421EB-06F5-FD21-015F-58CA6D24E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957" y="0"/>
            <a:ext cx="2631695" cy="13955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886457-2D1B-1383-2C0B-517B66618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5652" y="-3615"/>
            <a:ext cx="2631695" cy="13955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6340E1-1A3E-D7DA-CC49-0032FC26AA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" y="1391981"/>
            <a:ext cx="2631695" cy="13955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C504B6-FD7C-748F-1F0E-E3AC80C5B0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261" y="1422842"/>
            <a:ext cx="2631695" cy="13955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0B7A53-E770-0AA6-333C-90404594A9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524" y="1400986"/>
            <a:ext cx="2631695" cy="13955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962B38E-6D8D-4A1B-8A6C-2E28116AE9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3462" y="1422842"/>
            <a:ext cx="2631695" cy="13955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B39704-4555-86EF-75F9-CEF0623EFE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165" y="2772530"/>
            <a:ext cx="2631695" cy="13955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9FC040-2943-CCEB-235A-767A25273A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83395" y="2722968"/>
            <a:ext cx="2631695" cy="139559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354B8D-4099-D387-21E3-FE6FB239B5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1119" y="2733490"/>
            <a:ext cx="2631695" cy="139559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A92E0D6-EECD-1AB2-CBAA-5B3C4DF685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8829" y="2796582"/>
            <a:ext cx="2631695" cy="13955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2019F89-122A-01AD-3F55-CDDA9C0C53A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697" y="4129086"/>
            <a:ext cx="2631695" cy="139559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DD897CE-E66B-5359-5F48-E5EE2C11EEF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19570" y="4168126"/>
            <a:ext cx="2631695" cy="139559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3674D0C-4AA1-4282-C5FE-028F6B8E02D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90256" y="4118564"/>
            <a:ext cx="2631695" cy="13955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9953943-2B26-00A0-DDD9-8AD8C13208F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65129" y="4170322"/>
            <a:ext cx="2631695" cy="139559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03EFE52-7AF5-B39D-8E70-1A37A0C856D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681" y="5435158"/>
            <a:ext cx="2631695" cy="139559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F284BF4-6FEF-CE55-DC7B-6DAF13BF431E}"/>
              </a:ext>
            </a:extLst>
          </p:cNvPr>
          <p:cNvSpPr txBox="1"/>
          <p:nvPr/>
        </p:nvSpPr>
        <p:spPr>
          <a:xfrm>
            <a:off x="3197663" y="5871346"/>
            <a:ext cx="7380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990000"/>
                </a:solidFill>
                <a:latin typeface="Lucida Bright" panose="02040602050505020304" pitchFamily="18" charset="0"/>
              </a:rPr>
              <a:t>WordClouds</a:t>
            </a:r>
            <a:r>
              <a:rPr lang="en-US" sz="2800" dirty="0">
                <a:solidFill>
                  <a:srgbClr val="990000"/>
                </a:solidFill>
                <a:latin typeface="Lucida Bright" panose="02040602050505020304" pitchFamily="18" charset="0"/>
              </a:rPr>
              <a:t> of word features per lang!</a:t>
            </a:r>
          </a:p>
        </p:txBody>
      </p:sp>
    </p:spTree>
    <p:extLst>
      <p:ext uri="{BB962C8B-B14F-4D97-AF65-F5344CB8AC3E}">
        <p14:creationId xmlns:p14="http://schemas.microsoft.com/office/powerpoint/2010/main" val="361500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96DF-3E69-49E7-48ED-8C711BF1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BD6439-46BD-FDCA-A262-7504ED35B9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1" y="0"/>
            <a:ext cx="2631695" cy="1395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FD452-6B53-F412-7D97-40B75AF17C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2542262" y="-2805"/>
            <a:ext cx="2631695" cy="13955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34BA30-3E8D-4144-F154-41EBA9BA180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5173957" y="0"/>
            <a:ext cx="2631695" cy="13955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1F93C8-9CCE-371A-B13C-9D57E6974F4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7805652" y="-3615"/>
            <a:ext cx="2631695" cy="13955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034C2A-2BC9-0EA2-099A-2ED918F9789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5000"/>
          </a:blip>
          <a:stretch>
            <a:fillRect/>
          </a:stretch>
        </p:blipFill>
        <p:spPr>
          <a:xfrm>
            <a:off x="-2" y="1391981"/>
            <a:ext cx="2631695" cy="13955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2EA90F-AB11-0053-F37F-4DB79E02B9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261" y="1422842"/>
            <a:ext cx="2631695" cy="13955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3E8F3E-A80B-BE01-B611-1DAACFC86303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5084524" y="1400986"/>
            <a:ext cx="2631695" cy="13955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52FAF1D-013C-7B65-3E96-2BB289CF0DEB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5000"/>
          </a:blip>
          <a:stretch>
            <a:fillRect/>
          </a:stretch>
        </p:blipFill>
        <p:spPr>
          <a:xfrm>
            <a:off x="7633462" y="1422842"/>
            <a:ext cx="2631695" cy="13955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A0C9244-6493-1164-BED7-DC7F8B1B3416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35000"/>
          </a:blip>
          <a:stretch>
            <a:fillRect/>
          </a:stretch>
        </p:blipFill>
        <p:spPr>
          <a:xfrm>
            <a:off x="-7165" y="2772530"/>
            <a:ext cx="2631695" cy="13955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42A55A5-D683-E14F-B90C-9C285C7B9670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35000"/>
          </a:blip>
          <a:stretch>
            <a:fillRect/>
          </a:stretch>
        </p:blipFill>
        <p:spPr>
          <a:xfrm>
            <a:off x="2583395" y="2722968"/>
            <a:ext cx="2631695" cy="139559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5246069-1FD0-3F8A-E889-CB21F59555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1119" y="2733490"/>
            <a:ext cx="2631695" cy="139559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AB99FD-4FB8-EE75-19A7-0B259CE8CF4D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5000"/>
          </a:blip>
          <a:stretch>
            <a:fillRect/>
          </a:stretch>
        </p:blipFill>
        <p:spPr>
          <a:xfrm>
            <a:off x="7748829" y="2796582"/>
            <a:ext cx="2631695" cy="13955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5FB040B-3C48-DB8A-141E-69055CFE9C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697" y="4129086"/>
            <a:ext cx="2631695" cy="139559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A74692A-330A-398B-DC45-33F30F3DA2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19570" y="4168126"/>
            <a:ext cx="2631695" cy="139559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DF21364-A04D-2264-0E55-3A1E16E21402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35000"/>
          </a:blip>
          <a:stretch>
            <a:fillRect/>
          </a:stretch>
        </p:blipFill>
        <p:spPr>
          <a:xfrm>
            <a:off x="5190256" y="4118564"/>
            <a:ext cx="2631695" cy="13955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72D0933-9AA9-3786-F339-298AC3A84D8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65129" y="4170322"/>
            <a:ext cx="2631695" cy="139559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732ABC1-A3AF-D875-A1D9-E50F1EDCF4AA}"/>
              </a:ext>
            </a:extLst>
          </p:cNvPr>
          <p:cNvPicPr>
            <a:picLocks noChangeAspect="1"/>
          </p:cNvPicPr>
          <p:nvPr/>
        </p:nvPicPr>
        <p:blipFill>
          <a:blip r:embed="rId19">
            <a:alphaModFix amt="35000"/>
          </a:blip>
          <a:stretch>
            <a:fillRect/>
          </a:stretch>
        </p:blipFill>
        <p:spPr>
          <a:xfrm>
            <a:off x="47681" y="5435158"/>
            <a:ext cx="2631695" cy="139559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3320CB5-54C2-7E2C-7677-6EB11F63EE97}"/>
              </a:ext>
            </a:extLst>
          </p:cNvPr>
          <p:cNvSpPr txBox="1"/>
          <p:nvPr/>
        </p:nvSpPr>
        <p:spPr>
          <a:xfrm>
            <a:off x="3197663" y="5871346"/>
            <a:ext cx="7380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990000"/>
                </a:solidFill>
                <a:latin typeface="Lucida Bright" panose="02040602050505020304" pitchFamily="18" charset="0"/>
              </a:rPr>
              <a:t>WordClouds</a:t>
            </a:r>
            <a:r>
              <a:rPr lang="en-US" sz="2800" dirty="0">
                <a:solidFill>
                  <a:srgbClr val="990000"/>
                </a:solidFill>
                <a:latin typeface="Lucida Bright" panose="02040602050505020304" pitchFamily="18" charset="0"/>
              </a:rPr>
              <a:t> of word features per lang!</a:t>
            </a:r>
          </a:p>
        </p:txBody>
      </p:sp>
    </p:spTree>
    <p:extLst>
      <p:ext uri="{BB962C8B-B14F-4D97-AF65-F5344CB8AC3E}">
        <p14:creationId xmlns:p14="http://schemas.microsoft.com/office/powerpoint/2010/main" val="228865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D9EDC-7B62-5E44-1497-1DF7F5F6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C4B3-F493-486E-877A-46535A7D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90000"/>
                </a:solidFill>
                <a:latin typeface="Lucida Bright" panose="02040602050505020304" pitchFamily="18" charset="0"/>
              </a:rPr>
              <a:t>Future Explorations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641AD-97C5-D41D-AB8E-03C158467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990000"/>
                </a:solidFill>
              </a:rPr>
              <a:t>Trying to find more data; I was not logged into </a:t>
            </a:r>
            <a:r>
              <a:rPr lang="en-US" dirty="0" err="1">
                <a:solidFill>
                  <a:srgbClr val="990000"/>
                </a:solidFill>
              </a:rPr>
              <a:t>AO3</a:t>
            </a:r>
            <a:r>
              <a:rPr lang="en-US" dirty="0">
                <a:solidFill>
                  <a:srgbClr val="990000"/>
                </a:solidFill>
              </a:rPr>
              <a:t> to scrape the pages, and many works are hidden from non-users...</a:t>
            </a:r>
          </a:p>
          <a:p>
            <a:r>
              <a:rPr lang="en-US" dirty="0">
                <a:solidFill>
                  <a:srgbClr val="990000"/>
                </a:solidFill>
              </a:rPr>
              <a:t>Sorting languages by language family</a:t>
            </a:r>
          </a:p>
          <a:p>
            <a:r>
              <a:rPr lang="en-US" dirty="0">
                <a:solidFill>
                  <a:srgbClr val="990000"/>
                </a:solidFill>
              </a:rPr>
              <a:t>Studying the use of hyphens &amp; dashes (though, to be fair, I see most people who natively speak English use different dashes to represent an </a:t>
            </a:r>
            <a:r>
              <a:rPr lang="en-US" dirty="0" err="1">
                <a:solidFill>
                  <a:srgbClr val="990000"/>
                </a:solidFill>
              </a:rPr>
              <a:t>em</a:t>
            </a:r>
            <a:r>
              <a:rPr lang="en-US" dirty="0">
                <a:solidFill>
                  <a:srgbClr val="990000"/>
                </a:solidFill>
              </a:rPr>
              <a:t>-dash, and almost everyone uses a hyphen instead of an </a:t>
            </a:r>
            <a:r>
              <a:rPr lang="en-US" dirty="0" err="1">
                <a:solidFill>
                  <a:srgbClr val="990000"/>
                </a:solidFill>
              </a:rPr>
              <a:t>en</a:t>
            </a:r>
            <a:r>
              <a:rPr lang="en-US" dirty="0">
                <a:solidFill>
                  <a:srgbClr val="990000"/>
                </a:solidFill>
              </a:rPr>
              <a:t>-dash)</a:t>
            </a:r>
          </a:p>
          <a:p>
            <a:r>
              <a:rPr lang="en-US" dirty="0">
                <a:solidFill>
                  <a:srgbClr val="990000"/>
                </a:solidFill>
              </a:rPr>
              <a:t>Noting the use of sentence fragments versus proper sentences</a:t>
            </a:r>
          </a:p>
          <a:p>
            <a:r>
              <a:rPr lang="en-US" dirty="0">
                <a:solidFill>
                  <a:srgbClr val="990000"/>
                </a:solidFill>
              </a:rPr>
              <a:t>Once I get more experience </a:t>
            </a:r>
            <a:r>
              <a:rPr lang="en-US" dirty="0" err="1">
                <a:solidFill>
                  <a:srgbClr val="990000"/>
                </a:solidFill>
              </a:rPr>
              <a:t>webscraping</a:t>
            </a:r>
            <a:r>
              <a:rPr lang="en-US" dirty="0">
                <a:solidFill>
                  <a:srgbClr val="990000"/>
                </a:solidFill>
              </a:rPr>
              <a:t>, I could potentially search through their social media bios, which are much more likely to state which languages a person speaks</a:t>
            </a:r>
          </a:p>
          <a:p>
            <a:r>
              <a:rPr lang="en-US" dirty="0">
                <a:solidFill>
                  <a:srgbClr val="990000"/>
                </a:solidFill>
              </a:rPr>
              <a:t>See if there are apparent differences in translations versus originally-written-in-English works</a:t>
            </a:r>
          </a:p>
        </p:txBody>
      </p:sp>
    </p:spTree>
    <p:extLst>
      <p:ext uri="{BB962C8B-B14F-4D97-AF65-F5344CB8AC3E}">
        <p14:creationId xmlns:p14="http://schemas.microsoft.com/office/powerpoint/2010/main" val="2378257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1063</Words>
  <Application>Microsoft Office PowerPoint</Application>
  <PresentationFormat>Widescreen</PresentationFormat>
  <Paragraphs>80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Lucida Bright</vt:lpstr>
      <vt:lpstr>Lucida Sans</vt:lpstr>
      <vt:lpstr>Office Theme</vt:lpstr>
      <vt:lpstr>Native Language Prediction Through Fanfiction</vt:lpstr>
      <vt:lpstr>Archive of Our Own</vt:lpstr>
      <vt:lpstr>The issue with webscraping...</vt:lpstr>
      <vt:lpstr>PowerPoint Presentation</vt:lpstr>
      <vt:lpstr>The issue with webscraping...</vt:lpstr>
      <vt:lpstr>PowerPoint Presentation</vt:lpstr>
      <vt:lpstr>PowerPoint Presentation</vt:lpstr>
      <vt:lpstr>The issue with webscraping...</vt:lpstr>
      <vt:lpstr>Favorite Comments</vt:lpstr>
      <vt:lpstr>PowerPoint Presentation</vt:lpstr>
      <vt:lpstr>PowerPoint Presentation</vt:lpstr>
      <vt:lpstr>L1 Distributions (post-drop)</vt:lpstr>
      <vt:lpstr>PowerPoint Presentation</vt:lpstr>
      <vt:lpstr>PowerPoint Presentation</vt:lpstr>
      <vt:lpstr>PowerPoint Presentation</vt:lpstr>
      <vt:lpstr>PowerPoint Presentation</vt:lpstr>
      <vt:lpstr>Future Explorations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Higgins, Jenna K</dc:creator>
  <cp:lastModifiedBy>Higgins, Jenna K</cp:lastModifiedBy>
  <cp:revision>3</cp:revision>
  <dcterms:created xsi:type="dcterms:W3CDTF">2025-04-18T14:29:54Z</dcterms:created>
  <dcterms:modified xsi:type="dcterms:W3CDTF">2025-04-22T05:40:27Z</dcterms:modified>
</cp:coreProperties>
</file>